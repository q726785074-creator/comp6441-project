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e59afbfa704c16" /><Relationship Type="http://schemas.openxmlformats.org/officeDocument/2006/relationships/extended-properties" Target="/docProps/app.xml" Id="R58971ec7aed44d86" /><Relationship Type="http://schemas.openxmlformats.org/officeDocument/2006/relationships/officeDocument" Target="/ppt/presentation.xml" Id="R3e3c7ebe5da941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f61f94316848ec"/>
  </p:sldMasterIdLst>
  <p:notesMasterIdLst>
    <p:notesMasterId xmlns:r="http://schemas.openxmlformats.org/officeDocument/2006/relationships" r:id="Rb902b383dafd45fd"/>
  </p:notesMasterIdLst>
  <p:sldIdLst>
    <p:sldId xmlns:r="http://schemas.openxmlformats.org/officeDocument/2006/relationships" id="256" r:id="R0d02406bbc1544a4"/>
    <p:sldId xmlns:r="http://schemas.openxmlformats.org/officeDocument/2006/relationships" id="257" r:id="R4e7a16faecc74486"/>
    <p:sldId xmlns:r="http://schemas.openxmlformats.org/officeDocument/2006/relationships" id="258" r:id="Rb7662b79e3b24c3d"/>
    <p:sldId xmlns:r="http://schemas.openxmlformats.org/officeDocument/2006/relationships" id="259" r:id="Rab9a472d7633442b"/>
    <p:sldId xmlns:r="http://schemas.openxmlformats.org/officeDocument/2006/relationships" id="260" r:id="R420d40b1c4e947d5"/>
    <p:sldId xmlns:r="http://schemas.openxmlformats.org/officeDocument/2006/relationships" id="261" r:id="R5b33b92c9dfd472b"/>
    <p:sldId xmlns:r="http://schemas.openxmlformats.org/officeDocument/2006/relationships" id="262" r:id="Rd351c5f60a1e48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2c8751e81f4e8f" /><Relationship Type="http://schemas.openxmlformats.org/officeDocument/2006/relationships/slideMaster" Target="/ppt/slideMasters/slideMaster1.xml" Id="Radf61f94316848ec" /><Relationship Type="http://schemas.openxmlformats.org/officeDocument/2006/relationships/notesMaster" Target="/ppt/notesMasters/notesMaster1.xml" Id="Rb902b383dafd45fd" /><Relationship Type="http://schemas.openxmlformats.org/officeDocument/2006/relationships/presProps" Target="/ppt/presProps.xml" Id="Rc0180f307cf4405a" /><Relationship Type="http://schemas.openxmlformats.org/officeDocument/2006/relationships/viewProps" Target="/ppt/viewProps.xml" Id="R54fafe61b3894de8" /><Relationship Type="http://schemas.openxmlformats.org/officeDocument/2006/relationships/tableStyles" Target="/ppt/tableStyles.xml" Id="Rbef0cd6669da4b79" /><Relationship Type="http://schemas.openxmlformats.org/officeDocument/2006/relationships/slide" Target="/ppt/slides/slide1.xml" Id="R0d02406bbc1544a4" /><Relationship Type="http://schemas.openxmlformats.org/officeDocument/2006/relationships/slide" Target="/ppt/slides/slide2.xml" Id="R4e7a16faecc74486" /><Relationship Type="http://schemas.openxmlformats.org/officeDocument/2006/relationships/slide" Target="/ppt/slides/slide3.xml" Id="Rb7662b79e3b24c3d" /><Relationship Type="http://schemas.openxmlformats.org/officeDocument/2006/relationships/slide" Target="/ppt/slides/slide4.xml" Id="Rab9a472d7633442b" /><Relationship Type="http://schemas.openxmlformats.org/officeDocument/2006/relationships/slide" Target="/ppt/slides/slide5.xml" Id="R420d40b1c4e947d5" /><Relationship Type="http://schemas.openxmlformats.org/officeDocument/2006/relationships/slide" Target="/ppt/slides/slide6.xml" Id="R5b33b92c9dfd472b" /><Relationship Type="http://schemas.openxmlformats.org/officeDocument/2006/relationships/slide" Target="/ppt/slides/slide7.xml" Id="Rd351c5f60a1e48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4d50e14dc24a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2B2B2B"/>
      </a:dk2>
      <a:lt2>
        <a:srgbClr val="F2F2F2"/>
      </a:lt2>
      <a:accent1>
        <a:srgbClr val="555555"/>
      </a:accent1>
      <a:accent2>
        <a:srgbClr val="7A7A7A"/>
      </a:accent2>
      <a:accent3>
        <a:srgbClr val="555555"/>
      </a:accent3>
      <a:accent4>
        <a:srgbClr val="7A7A7A"/>
      </a:accent4>
      <a:accent5>
        <a:srgbClr val="555555"/>
      </a:accent5>
      <a:accent6>
        <a:srgbClr val="7A7A7A"/>
      </a:accent6>
      <a:hlink>
        <a:srgbClr val="555555"/>
      </a:hlink>
      <a:folHlink>
        <a:srgbClr val="555555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705d477a2340e0" /><Relationship Type="http://schemas.openxmlformats.org/officeDocument/2006/relationships/notesMaster" Target="/ppt/notesMasters/notesMaster1.xml" Id="Re0ed7e4e1eac41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e8d369b3af4929" /><Relationship Type="http://schemas.openxmlformats.org/officeDocument/2006/relationships/notesMaster" Target="/ppt/notesMasters/notesMaster1.xml" Id="R2af0ade397d44a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c66a6a4dce45cb" /><Relationship Type="http://schemas.openxmlformats.org/officeDocument/2006/relationships/notesMaster" Target="/ppt/notesMasters/notesMaster1.xml" Id="R152f40aa3f4045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79b3becc4141d7" /><Relationship Type="http://schemas.openxmlformats.org/officeDocument/2006/relationships/notesMaster" Target="/ppt/notesMasters/notesMaster1.xml" Id="R61325a5ca3294f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1ca2efeb6949b3" /><Relationship Type="http://schemas.openxmlformats.org/officeDocument/2006/relationships/notesMaster" Target="/ppt/notesMasters/notesMaster1.xml" Id="R49be859350bd42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2540d76b544ca8" /><Relationship Type="http://schemas.openxmlformats.org/officeDocument/2006/relationships/notesMaster" Target="/ppt/notesMasters/notesMaster1.xml" Id="R1be3da037ecb4b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aef480f63f42b1" /><Relationship Type="http://schemas.openxmlformats.org/officeDocument/2006/relationships/notesMaster" Target="/ppt/notesMasters/notesMaster1.xml" Id="R0d912804b88943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5e06d57c54e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ad9bdc78304d4c" /><Relationship Type="http://schemas.openxmlformats.org/officeDocument/2006/relationships/slideLayout" Target="/ppt/slideLayouts/slideLayout1.xml" Id="Rdfb69537c3b24a2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b69537c3b24a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 b="1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1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1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2B2B2B"/>
      </a:dk2>
      <a:lt2>
        <a:srgbClr val="F2F2F2"/>
      </a:lt2>
      <a:accent1>
        <a:srgbClr val="555555"/>
      </a:accent1>
      <a:accent2>
        <a:srgbClr val="7A7A7A"/>
      </a:accent2>
      <a:accent3>
        <a:srgbClr val="555555"/>
      </a:accent3>
      <a:accent4>
        <a:srgbClr val="7A7A7A"/>
      </a:accent4>
      <a:accent5>
        <a:srgbClr val="555555"/>
      </a:accent5>
      <a:accent6>
        <a:srgbClr val="7A7A7A"/>
      </a:accent6>
      <a:hlink>
        <a:srgbClr val="555555"/>
      </a:hlink>
      <a:folHlink>
        <a:srgbClr val="555555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318686bd8497f" /><Relationship Type="http://schemas.openxmlformats.org/officeDocument/2006/relationships/image" Target="/ppt/media/image.png" Id="R2b9626299dd745e0" /><Relationship Type="http://schemas.openxmlformats.org/officeDocument/2006/relationships/notesSlide" Target="/ppt/notesSlides/notesSlide1.xml" Id="R2166959e7a8143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7636502ff4253" /><Relationship Type="http://schemas.openxmlformats.org/officeDocument/2006/relationships/notesSlide" Target="/ppt/notesSlides/notesSlide2.xml" Id="R8f839f9dd80142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5ca99f0da4627" /><Relationship Type="http://schemas.openxmlformats.org/officeDocument/2006/relationships/notesSlide" Target="/ppt/notesSlides/notesSlide3.xml" Id="Rae42c0a302694c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43c50a34e4f4b" /><Relationship Type="http://schemas.openxmlformats.org/officeDocument/2006/relationships/image" Target="/ppt/media/image2.png" Id="R57eb18162a984a57" /><Relationship Type="http://schemas.openxmlformats.org/officeDocument/2006/relationships/image" Target="/ppt/media/image3.png" Id="R7b78b85ff05a42be" /><Relationship Type="http://schemas.openxmlformats.org/officeDocument/2006/relationships/image" Target="/ppt/media/image4.png" Id="Rcf9493a9121f4dd4" /><Relationship Type="http://schemas.openxmlformats.org/officeDocument/2006/relationships/notesSlide" Target="/ppt/notesSlides/notesSlide4.xml" Id="Rbb04f1533a6244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29254d5654911" /><Relationship Type="http://schemas.openxmlformats.org/officeDocument/2006/relationships/notesSlide" Target="/ppt/notesSlides/notesSlide5.xml" Id="Rac375b3062394d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b598ce45f4e9f" /><Relationship Type="http://schemas.openxmlformats.org/officeDocument/2006/relationships/image" Target="/ppt/media/image5.png" Id="Redd673bc44774876" /><Relationship Type="http://schemas.openxmlformats.org/officeDocument/2006/relationships/notesSlide" Target="/ppt/notesSlides/notesSlide6.xml" Id="R94173eea3c3446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34e10e9ad496f" /><Relationship Type="http://schemas.openxmlformats.org/officeDocument/2006/relationships/notesSlide" Target="/ppt/notesSlides/notesSlide7.xml" Id="R16358ea5447340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DF9B526-02C2-4C48-A695-6654DB73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圆角矩形 1">
            <a:extLst xmlns:a="http://schemas.openxmlformats.org/drawingml/2006/main">
              <a:ext uri="{FF2B5EF4-FFF2-40B4-BE49-F238E27FC236}">
                <a16:creationId xmlns:a16="http://schemas.microsoft.com/office/drawing/2014/main" id="{53B08CD9-E485-4D0E-9EC2-B7669B23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E32A6A1-EB2D-4E08-8E7E-E7E0E688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COMP6441 · CATEGORY A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0D3839-FE02-4114-8247-D45E9310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PhishWise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8910F24-40D6-45F4-903F-A2471971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325" b="1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An Interactive Phishing Awareness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325" b="1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Learning Activity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9E4A490-EFA7-4DC8-994D-C8EA919A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BE7106-EFE6-4948-98D5-FA500620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For university students with little or no formal cybersecurity education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591E869E-4D29-4874-9725-9AC6F10D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1D156AE-63A8-4964-9CA0-C591435A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4267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1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PhishWise teaches how phishing exploits trust — and how people and organisations can respond safely.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53C6E6B9-DDFD-43BD-8EC4-8615FD19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14450"/>
            <a:ext cx="539115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pic>
        <p:nvPicPr>
          <p:cNvPr id="29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626299dd745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153150" y="1355957"/>
            <a:ext cx="5314950" cy="2755437"/>
          </a:xfrm>
          <a:prstGeom xmlns:a="http://schemas.openxmlformats.org/drawingml/2006/main" prst="rect">
            <a:avLst/>
          </a:prstGeom>
        </p:spPr>
      </p:pic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5B2894BE-36A2-4435-ABD5-3311E32C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05300"/>
            <a:ext cx="1866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7CFA02A-E0BF-4854-BD3B-F39CFE20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1482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REAL PROJECT UI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073A314-0185-487D-9B01-F998EFBF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Pause · Inspect · Verify · Report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2F12F1F-8539-4B61-9FD8-B5B555AC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COMP6441 · TEACH SOMETHING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85B7560-EFAC-4A2A-8365-CB1E7381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 / 7</a:t>
            </a:r>
          </a:p>
        </p:txBody>
      </p:sp>
    </p:spTree>
    <p:extLst>
      <p:ext uri="{BB962C8B-B14F-4D97-AF65-F5344CB8AC3E}">
        <p14:creationId xmlns:p14="http://schemas.microsoft.com/office/powerpoint/2010/main" val="18173655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66F5890-D6E0-4142-B47C-DA56AB8D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LEARNING DESIGN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3BBC4D1-1DAD-451D-B654-7FD399E8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activity moves from recognition to safe action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D16B7A5-A982-4AB5-BFFA-28851C0C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57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BFB70E5-6BE6-4186-A270-DC9C0932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RECOGNISE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1AFD66B-E88D-4288-91EB-496C95A9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0500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72729A1-0EA0-48AB-9D8C-0FFB6713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43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REASON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3F8FC3-7DE6-494A-8E91-BB30862E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A618938-44AA-471B-8C7E-8B51195B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431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1134A5E-ADBA-42FE-BCD4-0AACE570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D075A438-FC20-434D-8979-5D1A2ABE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1CB9140-CAD5-451C-B29A-7FC068D3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B686E27-D4AD-48D6-A600-D5815184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146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Inspect sender identity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36D6EA8-5160-4306-AFFF-FB59797E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622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Display name, full address, and Reply-To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6C2EC095-2BF4-4BDC-A629-E3BD461F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3949CC7-8F0F-47F6-AB80-9F848D27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3D576EB-EC8F-4FD4-8C20-900D00E0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623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Analyse delivery paths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ADD31EB-B988-4070-98C5-0BC526E7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099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Links, controlling domains, and attachments</a:t>
            </a: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2F35E65B-630D-48AA-83DF-F44C857E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5C209DF-D6ED-4B3F-B7A2-D9E7C486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AD365B0-8F65-4187-B355-4865A30A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100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Recognise pressure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5E18F95-C45A-480C-B78A-91BFB094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576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Urgency, fear, authority, reward, and trust</a:t>
            </a: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3081ED5F-53DB-461A-9756-DDE2B94E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5412214-2332-49DD-AA46-6E38869E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A03BB51-0506-4A37-8196-5208BD11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146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Choose a safe response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592EB20-8523-407A-BAED-9B5E1CF4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622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Before and after clicking or credential entry</a:t>
            </a: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CAE1B5A6-8AB1-4D64-86C4-2BBD2B8F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3718EBB-2B9F-4407-9F63-EF99A65B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1BD7F6E-1991-43A8-B827-B85F6032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623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Explain layered defence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3A0D2B7-C68B-4924-8060-E9A7EE01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99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People, technology, and organisational response</a:t>
            </a:r>
          </a:p>
        </p:txBody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133D2E20-029B-43BB-A06D-42783BDD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9530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1263B1D6-06A0-463E-B87C-01E8DB53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624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4D4D4"/>
                </a:solidFill>
                <a:latin typeface="Arial"/>
                <a:ea typeface="Arial"/>
                <a:cs typeface="Arial"/>
              </a:rPr>
              <a:t>TEACH SOMETHING FIT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2DEB1A35-A9AA-48A5-B4CA-7500A4D6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5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Defined audience  ·  interactive activity  ·  planned evidence of learning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3A5763-77E4-40D0-9424-95AB4C09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COMP6441 · TEACH SOMETHING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2F200328-F21D-4548-8D78-808808C7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 / 7</a:t>
            </a:r>
          </a:p>
        </p:txBody>
      </p:sp>
    </p:spTree>
    <p:extLst>
      <p:ext uri="{BB962C8B-B14F-4D97-AF65-F5344CB8AC3E}">
        <p14:creationId xmlns:p14="http://schemas.microsoft.com/office/powerpoint/2010/main" val="11115100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988C5DB-C540-4DD1-95C8-4DA343F7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ACTIVITY FLOW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B36D052-137D-4E9B-9846-BB459852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5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local journey connects teaching, practice, and measurement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F67C4D3-5F83-4E91-8360-4D598AF9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57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287D213-596B-4B11-9764-81AC022A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81300"/>
            <a:ext cx="295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E06D272-93BA-4D1F-BD8C-386126BB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781300"/>
            <a:ext cx="295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E0936D4-2FAC-45C4-9234-EC76857E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81300"/>
            <a:ext cx="295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10E1B29-27F9-4F2B-A961-F2FB70F3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81300"/>
            <a:ext cx="295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9F45596-C10C-41AA-A9FD-288B4CCA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81300"/>
            <a:ext cx="295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6C25BC01-A72B-4CAE-AB19-3A014ABE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095276E-89AF-4FED-B35A-65BAAE93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D39050B-5BA0-4B97-B754-202F6DB9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Pre-test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2B7724B-1DB9-4546-BC62-1F8F8FC1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 questions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1693DB79-224F-4F83-80D7-872AC3AF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3431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C4AFCA1-79FB-42D6-8722-82AD4C7F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495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4D4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3C29B97-0C1E-4952-BE92-ADF3050A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8194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ACC8CA1-F86B-4F7F-A32E-5B7A4197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2575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CECECE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ECECE"/>
                </a:solidFill>
                <a:latin typeface="Arial"/>
                <a:ea typeface="Arial"/>
                <a:cs typeface="Arial"/>
              </a:rPr>
              <a:t>8 topics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6867DBD1-3F46-4D48-9799-DB152A62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14C5FF-B796-4C0F-8DFA-E735CEE0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95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4D4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64EE921-1C48-485E-B8DF-5556CCB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194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A51AA8D-D46B-46AB-9EFE-462A7BA7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575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CECECE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ECECE"/>
                </a:solidFill>
                <a:latin typeface="Arial"/>
                <a:ea typeface="Arial"/>
                <a:cs typeface="Arial"/>
              </a:rPr>
              <a:t>3 emails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6F59714F-A075-4B22-82A9-8FF0E07D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431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6EF5F4C-9367-4311-9ACA-5E77F792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95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4D4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A4C4AD5-6738-4DB3-A33D-08B8BE45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194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Defend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50A8A4E-FEE3-4CBE-BBA5-25FF7B15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575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CECECE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ECECE"/>
                </a:solidFill>
                <a:latin typeface="Arial"/>
                <a:ea typeface="Arial"/>
                <a:cs typeface="Arial"/>
              </a:rPr>
              <a:t>7 decisions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EE39EA20-F87A-4C25-BAD4-9309FCDE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2DE9C4D-C8C3-491C-AB8E-0D2030CB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95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FC675E8-E8FC-426B-AE4E-52C8D5FE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194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Post-test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CCAFBE1-A9B0-4060-B2AA-5A50B9D0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 questions</a:t>
            </a: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EC53A792-4275-4976-83DA-B3EFEDDE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431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E5E755D-5436-4901-8868-2CA0FD0C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495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A809B62-FC91-4F38-A0ED-8BF0B220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8194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1754E75-5BE0-4C58-B7C2-DDEB149F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2575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+ feedback</a:t>
            </a:r>
          </a:p>
        </p:txBody>
      </p:sp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3B50283F-8A57-47BD-9D1D-AB2FAD07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E8A48C23-1E3C-4FDF-98E5-C742E394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Same ten objectives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6997F225-5DB9-4526-839E-325822FE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Different pre/post situations test application, not answer memory.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13BAEA39-6F15-422D-97F1-66E39163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86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Explain the system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9B865E96-D123-4E23-943A-E2D767C6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72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8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Attacker goal → signal → check → defensive control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0E725996-2976-49F3-83D6-0052FAC5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Safe by design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BE96D5B5-40A2-4C1E-81CE-83271C97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Local only · fictional domains · no password or personal data</a:t>
            </a: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EA4337B7-93A2-4735-8E36-414C5FA0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C9B6DCDB-5393-4B82-94A7-998B1D5F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1021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Teaching is integrated with practice and review — not added after the interface is built.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9D7A4C31-E9BA-44B1-B202-05C0E33E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COMP6441 · TEACH SOMETHING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E39E3D13-3DDC-48E5-BE48-32FCB6D6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 / 7</a:t>
            </a:r>
          </a:p>
        </p:txBody>
      </p:sp>
    </p:spTree>
    <p:extLst>
      <p:ext uri="{BB962C8B-B14F-4D97-AF65-F5344CB8AC3E}">
        <p14:creationId xmlns:p14="http://schemas.microsoft.com/office/powerpoint/2010/main" val="10031654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B60970F-C6C7-4783-B7E8-5FAC06F9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4D4D4"/>
                </a:solidFill>
                <a:latin typeface="Arial"/>
                <a:ea typeface="Arial"/>
                <a:cs typeface="Arial"/>
              </a:rPr>
              <a:t>LIVE WEBSITE DEMO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A9DF27D-2944-4BB7-B566-2DBB4318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Trace one signal from attack to response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35C4A92-9C14-48B7-876E-EAC6093A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4D4D4"/>
                </a:solidFill>
                <a:latin typeface="Arial"/>
                <a:ea typeface="Arial"/>
                <a:cs typeface="Arial"/>
              </a:rPr>
              <a:t>Learn  →  Inspect  →  Explain  →  Defend  →  Results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330C6711-CA88-4A8F-8BB8-4CC1F11B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8150"/>
            <a:ext cx="2114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41A018F-A7C5-46A2-A091-D580E1E9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767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BACKUP SCREENSHOTS</a:t>
            </a: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BA9EF7D4-6FF0-441C-99F8-022FAF37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99135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pic>
        <p:nvPicPr>
          <p:cNvPr id="30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b18162a984a57"/>
          <a:srcRect xmlns:a="http://schemas.openxmlformats.org/drawingml/2006/main" l="0" t="4380" r="0" b="43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85800" y="2038350"/>
            <a:ext cx="6915150" cy="3943350"/>
          </a:xfrm>
          <a:prstGeom xmlns:a="http://schemas.openxmlformats.org/drawingml/2006/main" prst="rect">
            <a:avLst/>
          </a:prstGeom>
        </p:spPr>
      </p:pic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B5C398E7-7FC6-4923-BD50-E1C0DBDB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00250"/>
            <a:ext cx="367665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pic>
        <p:nvPicPr>
          <p:cNvPr id="32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8b85ff05a42be"/>
          <a:srcRect xmlns:a="http://schemas.openxmlformats.org/drawingml/2006/main" l="0" t="9788" r="0" b="97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905750" y="2038350"/>
            <a:ext cx="3600450" cy="1809750"/>
          </a:xfrm>
          <a:prstGeom xmlns:a="http://schemas.openxmlformats.org/drawingml/2006/main" prst="rect">
            <a:avLst/>
          </a:prstGeom>
        </p:spPr>
      </p:pic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85F08D5D-E99C-44E1-9124-4F4979B3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33850"/>
            <a:ext cx="367665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pic>
        <p:nvPicPr>
          <p:cNvPr id="34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493a9121f4dd4"/>
          <a:srcRect xmlns:a="http://schemas.openxmlformats.org/drawingml/2006/main" l="0" t="9788" r="0" b="97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905750" y="4171950"/>
            <a:ext cx="3600450" cy="1809750"/>
          </a:xfrm>
          <a:prstGeom xmlns:a="http://schemas.openxmlformats.org/drawingml/2006/main" prst="rect">
            <a:avLst/>
          </a:prstGeom>
        </p:spPr>
      </p:pic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5CDD1653-E5FC-48F3-9353-105F8F40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5F10AB4-39B4-400D-A57C-C5B2F6C3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02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 · SIGNAL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661A2B9D-6332-43B4-AA92-9B5B9DE9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907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8055E01-9484-4E0E-B9B5-144BA03E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02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2 · WHY + CONTROL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9155AE30-B548-48AE-BC54-EFAF4D9A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69595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DF32BDA-451F-450E-AB94-04980DDE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70547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3 · SAFE RESPONSE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46AF22D-CC7A-4225-9D10-CBFFCDA2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CECEC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ECECE"/>
                </a:solidFill>
                <a:latin typeface="Arial"/>
                <a:ea typeface="Arial"/>
                <a:cs typeface="Arial"/>
              </a:rPr>
              <a:t>COMP6441 · TEACH SOMETHING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372A2A2-6C08-482C-9CD9-AB8113FB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CECEC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ECECE"/>
                </a:solidFill>
                <a:latin typeface="Arial"/>
                <a:ea typeface="Arial"/>
                <a:cs typeface="Arial"/>
              </a:rPr>
              <a:t>4 / 7</a:t>
            </a:r>
          </a:p>
        </p:txBody>
      </p:sp>
    </p:spTree>
    <p:extLst>
      <p:ext uri="{BB962C8B-B14F-4D97-AF65-F5344CB8AC3E}">
        <p14:creationId xmlns:p14="http://schemas.microsoft.com/office/powerpoint/2010/main" val="9641596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02C487D-6D4E-4333-BFCC-0EA528AD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SECURITY ENGINEERING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EFD8A73-867A-4741-B59A-A45B25DB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Phishing is a system failure, not only a bad click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5468D5A-0B50-47D1-AD82-2538BA12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57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254B82B-E564-411E-B063-3528F7CD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24150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285C12D-AED3-41E3-9613-F1D86C3C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14600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9D6EF58-C28F-4959-9E1D-721FA19D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24150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3B9B98A-D0EF-4A8C-8E59-15B2D73D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14600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71B5A1BD-ADA2-45BC-8396-E421AD8F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76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675D58E-3996-4D87-B08B-3A4DE3D3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THREAT ACTOR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1F5A30D-3E0A-4D43-85E0-B0739E1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Phishing attacker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597E531-808A-498D-B9E2-255A6EBC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Seeks access, money, data, or a trusted identity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119C50A1-FFB7-4EE5-B1D2-28EE0FAA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24050"/>
            <a:ext cx="34290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F53EF7-BB8B-4E6F-9F2B-D3FD09F4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526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4D4D4"/>
                </a:solidFill>
                <a:latin typeface="Arial"/>
                <a:ea typeface="Arial"/>
                <a:cs typeface="Arial"/>
              </a:rPr>
              <a:t>TRUST BOUNDARY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B660A69-2322-4168-B8AB-8833EEC8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95550"/>
            <a:ext cx="2895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6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Familiar name  ·  branding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urgency  ·  login prompt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137B92E-0599-4AA7-8EE4-416628BA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7660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CECEC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ECECE"/>
                </a:solidFill>
                <a:latin typeface="Arial"/>
                <a:ea typeface="Arial"/>
                <a:cs typeface="Arial"/>
              </a:rPr>
              <a:t>Attack surface: email · links · attachments · fake pages · MFA prompts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38744AE0-88F8-45A3-A3BB-9D462832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76450"/>
            <a:ext cx="31623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8E8E8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114FDBE-6CF7-46DB-AA1C-4518D2CA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05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ASSETS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D83A394-D27B-4F0E-A7A3-4B705529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Accounts · credentials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sessions · data · access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84DAC32-2F92-4EAD-A0C3-39E81728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LAYERED CONTROLS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203FD068-F7C9-467F-BD0A-B547E29D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47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AB35D2C-D57B-4397-9BDF-EB862146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PREVENTION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27B0399-A304-431E-8616-1AFD3B33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Reduce opportunity</a:t>
            </a: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906DE9C0-0E2F-4B18-AE99-4CD0EB1B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76750"/>
            <a:ext cx="247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657454B0-DD8A-43FF-96C9-4E70327A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291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81E1558-BD1E-4B26-96A6-862B0560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1490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Find suspicious activity</a:t>
            </a: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179B94C1-3073-491E-B0F0-89572A19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247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F009561-9424-4BE5-8869-1B0E9F48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291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C6DC864-EF48-40EC-AD1C-9E8D9C9D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1490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F2F2F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2F2F2"/>
                </a:solidFill>
                <a:latin typeface="Arial"/>
                <a:ea typeface="Arial"/>
                <a:cs typeface="Arial"/>
              </a:rPr>
              <a:t>Contain the harm</a:t>
            </a: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49D0C503-E7D9-426E-B29E-CA3C4317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76750"/>
            <a:ext cx="247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5D000B1-9FEC-4185-9A65-1504C488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291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903D2092-A937-4E0C-9121-C6D91A58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1490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Restore and improve</a:t>
            </a:r>
          </a:p>
        </p:txBody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323CB0E0-683A-4397-B30B-D8F7A361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28CEBA87-A982-448B-8424-89E722F1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67375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9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 awareness is one control — not the whole security system.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74C687B3-1AB0-4006-8A2E-13AA952A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COMP6441 · TEACH SOMETHING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06D06E4-7F21-4892-946A-17487C02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8698640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CF7CD99B-3FDB-408C-A631-495D664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EVALUATION + PROGRESSION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04D7CAB-5650-4BCE-8F9E-F5249240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5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Effectiveness remains a testable claim, not an invented result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708585E-10DC-4EA7-91B0-61479861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57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451EA648-49F7-437D-9BEA-D3FB3621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219700" cy="3657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B90D03C-98CE-4968-86F6-CF921C54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REAL-PARTICIPANT PLAN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67E6700-63A3-4A23-9D52-AC387101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PARTICIPANTS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54779AC-E6DC-4B0D-BEA9-70BF21C2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71750"/>
            <a:ext cx="3448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Consenting beginner university students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E6D1A05-4DB0-4AA8-8144-42222246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38475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B14488A-7727-4059-B3BD-0F9E48BF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B5B2237-68BE-4FC5-9CE1-1E17D99F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09925"/>
            <a:ext cx="3448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Pre-test → activity → post-test → anonymous feedback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E802E8F-1B35-4A62-9D5B-02518BC0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CDF9287-DC94-40F9-8CD7-A7627CEE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96E5BF2-4358-4BF3-A381-469EDBD6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48100"/>
            <a:ext cx="3448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Score change · scenario performance · confidence · feedback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01AD7D2-5A9A-448E-883F-73831FED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4825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D1A9E9C-1E87-4819-96AC-66C57D01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0532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ITERATION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B4D1390-0607-4EB7-BCAB-E03B916A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86275"/>
            <a:ext cx="3448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Revise unclear content after pilot and main testing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01DDEEDE-6A70-40E1-8ADB-63FD53BB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48006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71D134B-0178-4CA4-9B7A-84241CC1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57775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0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Current status: functional testing complete; participant evidence not yet collected.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DDBFFE5-567C-43E4-83F9-58100B31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PROJECT PROGRESSION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6A3961E3-E03F-4DA6-9C0F-084ADFC2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457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50925B3-D1A6-4847-8D74-456FF060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14575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V1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A202EEF-3DA1-4685-8509-B0EEC4BF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52675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Five-question prototype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C4EE6DB-1A68-41C8-AF58-64162023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6289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0EC46CC7-924C-47CC-AAD0-0224B35C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457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FAB0316-1DCB-4A44-AD14-58353967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28925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V2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7975492-1AB3-488A-929C-2732B985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67025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Ten-question pre/post design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38970F2-74D8-4EB0-8BD0-E39C3A58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4325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9E023F5C-03D0-45EA-93CB-209CD66D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457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647B1DA-8FD6-4F2E-9447-6E68C6A5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43275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439EB49-C17C-4259-A441-DB298EF3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81375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 scenarios · 7 decisions · bilingual + demo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43C014D0-C915-4129-A064-013324EA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6576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BC4B390E-D3F2-4140-911B-C536F565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457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9A816C0-70AD-44B5-95B0-A2DD77C9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V4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304BCDAB-C6CF-4C42-9405-1DF5CBB3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95725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Revise after real participant testing</a:t>
            </a:r>
          </a:p>
        </p:txBody>
      </p:sp>
      <p:sp>
        <p:nvSpPr>
          <p:cNvPr id="35" name="圆角矩形 34">
            <a:extLst xmlns:a="http://schemas.openxmlformats.org/drawingml/2006/main">
              <a:ext uri="{FF2B5EF4-FFF2-40B4-BE49-F238E27FC236}">
                <a16:creationId xmlns:a16="http://schemas.microsoft.com/office/drawing/2014/main" id="{DC4E1D85-ADDB-4786-86D4-3D850046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00550"/>
            <a:ext cx="52959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pic>
        <p:nvPicPr>
          <p:cNvPr id="78" name="图片 7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673bc44774876"/>
          <a:srcRect xmlns:a="http://schemas.openxmlformats.org/drawingml/2006/main" l="0" t="29270" r="0" b="292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86500" y="4438650"/>
            <a:ext cx="5219700" cy="1352550"/>
          </a:xfrm>
          <a:prstGeom xmlns:a="http://schemas.openxmlformats.org/drawingml/2006/main" prst="rect">
            <a:avLst/>
          </a:prstGeom>
        </p:spPr>
      </p:pic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DC0C386A-0BF5-42F6-8C07-FC25B014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486400"/>
            <a:ext cx="2495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23F7052-D9A7-4759-8DAC-D2D1FF03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4959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TEMPORARY DEMO VALUES ONLY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FED64DF8-A4E1-4FA8-904C-37E76D9F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COMP6441 · TEACH SOMETHING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D6D4B9C-628E-4A7F-A2D8-7AB0536C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6 / 7</a:t>
            </a:r>
          </a:p>
        </p:txBody>
      </p:sp>
    </p:spTree>
    <p:extLst>
      <p:ext uri="{BB962C8B-B14F-4D97-AF65-F5344CB8AC3E}">
        <p14:creationId xmlns:p14="http://schemas.microsoft.com/office/powerpoint/2010/main" val="9622365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C00B240-4325-4C97-BDAF-97C9AA7F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4D4D4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2532401-E393-414E-B212-4E3C31B2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Effective defence combines people, technology, and preparation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47C8ED2-3E5A-46B5-B585-FCEF370F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8602629-04EC-43D4-8AD0-1CC5E408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4D4D4"/>
                </a:solidFill>
                <a:latin typeface="Arial"/>
                <a:ea typeface="Arial"/>
                <a:cs typeface="Arial"/>
              </a:rPr>
              <a:t>TEACHES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2AA0D07-1EED-4A4E-8B9E-4572836B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Recognition · reasoning · response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499F261-D735-4E37-B672-AB638A0B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6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4D4D4"/>
                </a:solidFill>
                <a:latin typeface="Arial"/>
                <a:ea typeface="Arial"/>
                <a:cs typeface="Arial"/>
              </a:rPr>
              <a:t>INTERACTIVE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7261BEF-EA68-42C1-AC3D-24188BFA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146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Lessons · email scenarios · decisions · review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BC92A39-680B-4D3B-9B47-0A5A1583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4D4D4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E6D2233-D19F-4366-AD3F-281A30C5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Fictional examples · local-only data · no credentials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3D478D9-EE03-4C03-A04A-99153A82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433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4D4D4"/>
                </a:solidFill>
                <a:latin typeface="Arial"/>
                <a:ea typeface="Arial"/>
                <a:cs typeface="Arial"/>
              </a:rPr>
              <a:t>PROJECT LEARNING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FD21C7E-30A3-4F1D-A68A-6D0DC764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909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Working software is not proof of learning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BED7B1D5-CB0F-4594-BFD0-BD419DD6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ADEF133-60E4-41CF-B10E-F8369C02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1005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5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81818"/>
                </a:solidFill>
                <a:latin typeface="Arial"/>
                <a:ea typeface="Arial"/>
                <a:cs typeface="Arial"/>
              </a:rPr>
              <a:t>Phishing succeeds by exploiting trust, so effective security requires informed users, technical controls, and a prepared organisation.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56C3802-705A-4CBC-B219-3A6B25FC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81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4D4D4"/>
                </a:solidFill>
                <a:latin typeface="Arial"/>
                <a:ea typeface="Arial"/>
                <a:cs typeface="Arial"/>
              </a:rPr>
              <a:t>Pause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3E49927-0EB7-4E10-BD7C-08E99002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981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4D4D4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902327D-AED2-40A6-B6B1-1DB2E6DE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981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4D4D4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01A4309-A536-41F0-BD50-175C81A6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981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4D4D4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7D82A78-7D33-4AB0-B736-A88ED735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9436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641C5F9-97C0-4221-B2BA-D54AF0A9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9436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62FC01A-5904-47FB-BB41-C157B009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9436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F78EF5A-21A0-4AA5-BF38-6F20015F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CECEC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ECECE"/>
                </a:solidFill>
                <a:latin typeface="Arial"/>
                <a:ea typeface="Arial"/>
                <a:cs typeface="Arial"/>
              </a:rPr>
              <a:t>COMP6441 · TEACH SOMETHING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B152854-BA8F-413D-BFE0-59987068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CECEC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ECECE"/>
                </a:solidFill>
                <a:latin typeface="Arial"/>
                <a:ea typeface="Arial"/>
                <a:cs typeface="Arial"/>
              </a:rPr>
              <a:t>7 / 7</a:t>
            </a:r>
          </a:p>
        </p:txBody>
      </p:sp>
    </p:spTree>
    <p:extLst>
      <p:ext uri="{BB962C8B-B14F-4D97-AF65-F5344CB8AC3E}">
        <p14:creationId xmlns:p14="http://schemas.microsoft.com/office/powerpoint/2010/main" val="15538925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2B2B2B"/>
      </a:dk2>
      <a:lt2>
        <a:srgbClr val="F2F2F2"/>
      </a:lt2>
      <a:accent1>
        <a:srgbClr val="555555"/>
      </a:accent1>
      <a:accent2>
        <a:srgbClr val="7A7A7A"/>
      </a:accent2>
      <a:accent3>
        <a:srgbClr val="555555"/>
      </a:accent3>
      <a:accent4>
        <a:srgbClr val="7A7A7A"/>
      </a:accent4>
      <a:accent5>
        <a:srgbClr val="555555"/>
      </a:accent5>
      <a:accent6>
        <a:srgbClr val="7A7A7A"/>
      </a:accent6>
      <a:hlink>
        <a:srgbClr val="555555"/>
      </a:hlink>
      <a:folHlink>
        <a:srgbClr val="555555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2026-07-24T13:23:15.6600000Z</dcterms:created>
  <dcterms:modified xsi:type="dcterms:W3CDTF">2026-07-24T13:23:15.6600000Z</dcterms:modified>
</coreProperties>
</file>